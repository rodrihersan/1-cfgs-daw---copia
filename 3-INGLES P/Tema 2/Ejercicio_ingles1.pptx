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nonymous Pro Bold" charset="1" panose="02060809030202000504"/>
      <p:regular r:id="rId13"/>
    </p:embeddedFont>
    <p:embeddedFont>
      <p:font typeface="Cousine" charset="1" panose="02070409020205020404"/>
      <p:regular r:id="rId14"/>
    </p:embeddedFont>
    <p:embeddedFont>
      <p:font typeface="Cousine Bold" charset="1" panose="02070709020205020404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21.png" Type="http://schemas.openxmlformats.org/officeDocument/2006/relationships/image"/><Relationship Id="rId19" Target="../media/image22.svg" Type="http://schemas.openxmlformats.org/officeDocument/2006/relationships/image"/><Relationship Id="rId2" Target="../media/image1.png" Type="http://schemas.openxmlformats.org/officeDocument/2006/relationships/image"/><Relationship Id="rId20" Target="../media/image23.png" Type="http://schemas.openxmlformats.org/officeDocument/2006/relationships/image"/><Relationship Id="rId21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4083" y="9196956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-76633" y="4249466"/>
            <a:ext cx="18441266" cy="299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34"/>
              </a:lnSpc>
            </a:pPr>
            <a:r>
              <a:rPr lang="en-US" b="true" sz="11434" spc="-388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REAL-LIFE SCENARIO CHALLENGE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678059" y="1582506"/>
            <a:ext cx="2123787" cy="586938"/>
          </a:xfrm>
          <a:custGeom>
            <a:avLst/>
            <a:gdLst/>
            <a:ahLst/>
            <a:cxnLst/>
            <a:rect r="r" b="b" t="t" l="l"/>
            <a:pathLst>
              <a:path h="586938" w="2123787">
                <a:moveTo>
                  <a:pt x="0" y="0"/>
                </a:moveTo>
                <a:lnTo>
                  <a:pt x="2123788" y="0"/>
                </a:lnTo>
                <a:lnTo>
                  <a:pt x="2123788" y="586937"/>
                </a:lnTo>
                <a:lnTo>
                  <a:pt x="0" y="5869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7259300" y="1875975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2"/>
                </a:lnTo>
                <a:lnTo>
                  <a:pt x="0" y="13037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352676" y="3105046"/>
            <a:ext cx="5582648" cy="52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8"/>
              </a:lnSpc>
            </a:pPr>
            <a:r>
              <a:rPr lang="en-US" sz="3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Vocabulary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0793" y="7587231"/>
            <a:ext cx="9746415" cy="65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3783" spc="431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UN</a:t>
            </a:r>
            <a:r>
              <a:rPr lang="en-US" sz="3783" spc="431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DERSTANDING THE BASICS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7082213" cy="110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Real-Life Scenario Challenge</a:t>
            </a:r>
          </a:p>
          <a:p>
            <a:pPr algn="l">
              <a:lnSpc>
                <a:spcPts val="4462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101436" y="1558682"/>
            <a:ext cx="13131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Terms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62255" y="1558682"/>
            <a:ext cx="2138207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Solution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448136" y="1558682"/>
            <a:ext cx="6779553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Advantages and limitations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6559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310814" y="4102411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821361" y="2073840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092743" y="3762832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4" y="0"/>
                </a:lnTo>
                <a:lnTo>
                  <a:pt x="1048894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442638" y="4510121"/>
            <a:ext cx="5534722" cy="250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DEFINING THE KEYWORDS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31609" y="2643636"/>
            <a:ext cx="9769883" cy="607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2914" indent="-376457" lvl="1">
              <a:lnSpc>
                <a:spcPts val="4359"/>
              </a:lnSpc>
              <a:buFont typeface="Arial"/>
              <a:buChar char="•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Key Terms:</a:t>
            </a:r>
          </a:p>
          <a:p>
            <a:pPr algn="l" marL="1505828" indent="-501943" lvl="2">
              <a:lnSpc>
                <a:spcPts val="4359"/>
              </a:lnSpc>
              <a:buFont typeface="Arial"/>
              <a:buChar char="⚬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F</a:t>
            </a: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irewall</a:t>
            </a:r>
          </a:p>
          <a:p>
            <a:pPr algn="l" marL="2258742" indent="-564686" lvl="3">
              <a:lnSpc>
                <a:spcPts val="4359"/>
              </a:lnSpc>
              <a:buFont typeface="Arial"/>
              <a:buChar char="￭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Security system which controls the network traffic.</a:t>
            </a:r>
          </a:p>
          <a:p>
            <a:pPr algn="l">
              <a:lnSpc>
                <a:spcPts val="4359"/>
              </a:lnSpc>
            </a:pPr>
          </a:p>
          <a:p>
            <a:pPr algn="l" marL="1505828" indent="-501943" lvl="2">
              <a:lnSpc>
                <a:spcPts val="4359"/>
              </a:lnSpc>
              <a:buFont typeface="Arial"/>
              <a:buChar char="⚬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HTTPS</a:t>
            </a:r>
          </a:p>
          <a:p>
            <a:pPr algn="l" marL="2258742" indent="-564686" lvl="3">
              <a:lnSpc>
                <a:spcPts val="4359"/>
              </a:lnSpc>
              <a:buFont typeface="Arial"/>
              <a:buChar char="￭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It is the safe version from HTTP that encrypt the communication between a browser and a website.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7072996" cy="110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Real-Life Scenario Challenge</a:t>
            </a:r>
          </a:p>
          <a:p>
            <a:pPr algn="l">
              <a:lnSpc>
                <a:spcPts val="4462"/>
              </a:lnSpc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4120585" y="9193555"/>
            <a:ext cx="1271608" cy="652980"/>
            <a:chOff x="0" y="0"/>
            <a:chExt cx="334909" cy="1719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01436" y="1558682"/>
            <a:ext cx="13131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Terms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62255" y="1558682"/>
            <a:ext cx="2138207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Solution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448136" y="1558682"/>
            <a:ext cx="6779553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Advantages and limitations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6559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80209" y="4198412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683415" y="693400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218137" y="3925395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1"/>
                </a:lnTo>
                <a:lnTo>
                  <a:pt x="0" y="1018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412033" y="4663185"/>
            <a:ext cx="5534722" cy="250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 BRI</a:t>
            </a: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EF HISTORY OF COMPUTERS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79737" y="4245620"/>
            <a:ext cx="5393246" cy="297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073148" y="9193555"/>
            <a:ext cx="1271608" cy="652980"/>
            <a:chOff x="0" y="0"/>
            <a:chExt cx="334909" cy="1719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7270127" y="67853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612534" y="67853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5952607" y="67853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7" y="0"/>
                </a:lnTo>
                <a:lnTo>
                  <a:pt x="545627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2463214" y="4254811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2245143" y="3915232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4" y="0"/>
                </a:lnTo>
                <a:lnTo>
                  <a:pt x="1048894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2595038" y="4662521"/>
            <a:ext cx="5534722" cy="250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DEFINING THE KEYWORDS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884009" y="2796036"/>
            <a:ext cx="9769883" cy="607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2914" indent="-376457" lvl="1">
              <a:lnSpc>
                <a:spcPts val="4359"/>
              </a:lnSpc>
              <a:buFont typeface="Arial"/>
              <a:buChar char="•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Key Terms:</a:t>
            </a:r>
          </a:p>
          <a:p>
            <a:pPr algn="l" marL="1505828" indent="-501943" lvl="2">
              <a:lnSpc>
                <a:spcPts val="4359"/>
              </a:lnSpc>
              <a:buFont typeface="Arial"/>
              <a:buChar char="⚬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Hacker</a:t>
            </a:r>
          </a:p>
          <a:p>
            <a:pPr algn="l" marL="2258742" indent="-564686" lvl="3">
              <a:lnSpc>
                <a:spcPts val="4359"/>
              </a:lnSpc>
              <a:buFont typeface="Arial"/>
              <a:buChar char="￭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Someone with advanced knowledge about computers and computer networks.</a:t>
            </a:r>
          </a:p>
          <a:p>
            <a:pPr algn="l">
              <a:lnSpc>
                <a:spcPts val="4359"/>
              </a:lnSpc>
            </a:pPr>
          </a:p>
          <a:p>
            <a:pPr algn="l" marL="1505828" indent="-501943" lvl="2">
              <a:lnSpc>
                <a:spcPts val="4359"/>
              </a:lnSpc>
              <a:buFont typeface="Arial"/>
              <a:buChar char="⚬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Security</a:t>
            </a:r>
          </a:p>
          <a:p>
            <a:pPr algn="l" marL="2258742" indent="-564686" lvl="3">
              <a:lnSpc>
                <a:spcPts val="4359"/>
              </a:lnSpc>
              <a:buFont typeface="Arial"/>
              <a:buChar char="￭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 group of technologies processes and practices designed to protect systems,  programs from attacks.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36487" y="618296"/>
            <a:ext cx="7072996" cy="110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Real-Life Scenario Challenge</a:t>
            </a:r>
          </a:p>
          <a:p>
            <a:pPr algn="l">
              <a:lnSpc>
                <a:spcPts val="4462"/>
              </a:lnSpc>
            </a:pPr>
          </a:p>
        </p:txBody>
      </p:sp>
      <p:grpSp>
        <p:nvGrpSpPr>
          <p:cNvPr name="Group 56" id="56"/>
          <p:cNvGrpSpPr/>
          <p:nvPr/>
        </p:nvGrpSpPr>
        <p:grpSpPr>
          <a:xfrm rot="0">
            <a:off x="6147990" y="9193555"/>
            <a:ext cx="1271608" cy="652980"/>
            <a:chOff x="0" y="0"/>
            <a:chExt cx="334909" cy="17197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2248964" y="1545494"/>
            <a:ext cx="13131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Terms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009783" y="1545494"/>
            <a:ext cx="2138207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Solution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595665" y="1545494"/>
            <a:ext cx="6779553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Advantages and limitations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84087" y="1571870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5975725" y="2414781"/>
            <a:ext cx="1840031" cy="1840031"/>
          </a:xfrm>
          <a:custGeom>
            <a:avLst/>
            <a:gdLst/>
            <a:ahLst/>
            <a:cxnLst/>
            <a:rect r="r" b="b" t="t" l="l"/>
            <a:pathLst>
              <a:path h="1840031" w="1840031">
                <a:moveTo>
                  <a:pt x="0" y="0"/>
                </a:moveTo>
                <a:lnTo>
                  <a:pt x="1840030" y="0"/>
                </a:lnTo>
                <a:lnTo>
                  <a:pt x="1840030" y="1840030"/>
                </a:lnTo>
                <a:lnTo>
                  <a:pt x="0" y="18400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2821361" y="2073840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310814" y="4102411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92743" y="3762832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4" y="0"/>
                </a:lnTo>
                <a:lnTo>
                  <a:pt x="1048894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42638" y="4510121"/>
            <a:ext cx="5534722" cy="250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DEFINING THE KEYTERMS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73059" y="3692145"/>
            <a:ext cx="9769883" cy="386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2914" indent="-376457" lvl="1">
              <a:lnSpc>
                <a:spcPts val="4359"/>
              </a:lnSpc>
              <a:buFont typeface="Arial"/>
              <a:buChar char="•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Key Terms:</a:t>
            </a:r>
          </a:p>
          <a:p>
            <a:pPr algn="l" marL="1505828" indent="-501943" lvl="2">
              <a:lnSpc>
                <a:spcPts val="4359"/>
              </a:lnSpc>
              <a:buFont typeface="Arial"/>
              <a:buChar char="⚬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Protocol</a:t>
            </a:r>
          </a:p>
          <a:p>
            <a:pPr algn="l" marL="2258742" indent="-564686" lvl="3">
              <a:lnSpc>
                <a:spcPts val="4359"/>
              </a:lnSpc>
              <a:buFont typeface="Arial"/>
              <a:buChar char="￭"/>
            </a:pPr>
            <a:r>
              <a:rPr lang="en-US" sz="34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 group of rules and steps to protect the confidentiality, integrity, and availability of digital information.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6888726" cy="110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Real-Life Scenario Challenge</a:t>
            </a:r>
          </a:p>
          <a:p>
            <a:pPr algn="l">
              <a:lnSpc>
                <a:spcPts val="4462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8960282" y="9194501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101436" y="1558682"/>
            <a:ext cx="13131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Terms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62255" y="1558682"/>
            <a:ext cx="2138207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Solution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48136" y="1558682"/>
            <a:ext cx="6779553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Advantages and limitations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36559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2821361" y="2073840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03496" y="3343236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49"/>
                </a:lnTo>
                <a:lnTo>
                  <a:pt x="0" y="3088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805621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900434" y="5099377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193736" y="3265263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281090" y="3343236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1" y="0"/>
                </a:lnTo>
                <a:lnTo>
                  <a:pt x="2986281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281090" y="200317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041237" y="4275304"/>
            <a:ext cx="1465987" cy="1122147"/>
          </a:xfrm>
          <a:custGeom>
            <a:avLst/>
            <a:gdLst/>
            <a:ahLst/>
            <a:cxnLst/>
            <a:rect r="r" b="b" t="t" l="l"/>
            <a:pathLst>
              <a:path h="1122147" w="1465987">
                <a:moveTo>
                  <a:pt x="0" y="0"/>
                </a:moveTo>
                <a:lnTo>
                  <a:pt x="1465987" y="0"/>
                </a:lnTo>
                <a:lnTo>
                  <a:pt x="1465987" y="1122146"/>
                </a:lnTo>
                <a:lnTo>
                  <a:pt x="0" y="11221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654862" y="5906745"/>
            <a:ext cx="1477427" cy="1556676"/>
          </a:xfrm>
          <a:custGeom>
            <a:avLst/>
            <a:gdLst/>
            <a:ahLst/>
            <a:cxnLst/>
            <a:rect r="r" b="b" t="t" l="l"/>
            <a:pathLst>
              <a:path h="1556676" w="1477427">
                <a:moveTo>
                  <a:pt x="0" y="0"/>
                </a:moveTo>
                <a:lnTo>
                  <a:pt x="1477427" y="0"/>
                </a:lnTo>
                <a:lnTo>
                  <a:pt x="1477427" y="1556677"/>
                </a:lnTo>
                <a:lnTo>
                  <a:pt x="0" y="155667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971011" y="4239344"/>
            <a:ext cx="5263340" cy="139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</a:t>
            </a: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OPOSE THE SOLUTION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05360" y="6772069"/>
            <a:ext cx="7994641" cy="2062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5"/>
              </a:lnSpc>
            </a:pPr>
            <a:r>
              <a:rPr lang="en-US" sz="21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best element I would a</a:t>
            </a:r>
            <a:r>
              <a:rPr lang="en-US" sz="21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dd to the network is a firewall.</a:t>
            </a:r>
          </a:p>
          <a:p>
            <a:pPr algn="just">
              <a:lnSpc>
                <a:spcPts val="2735"/>
              </a:lnSpc>
            </a:pPr>
            <a:r>
              <a:rPr lang="en-US" sz="21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 firewall protects the internal network from hackers and it blocks unauthorized traffic that come from outside. This improves the security level of the system.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644177"/>
            <a:ext cx="6923137" cy="110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Real-Life Scenario Challenge</a:t>
            </a:r>
          </a:p>
          <a:p>
            <a:pPr algn="l">
              <a:lnSpc>
                <a:spcPts val="4462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101436" y="1558682"/>
            <a:ext cx="13131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Terms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862255" y="1558682"/>
            <a:ext cx="2138207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Solution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48136" y="1558682"/>
            <a:ext cx="6779553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Advantages and limitations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36559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786868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9752751" y="2073840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101436" y="3209599"/>
            <a:ext cx="8466949" cy="1831940"/>
          </a:xfrm>
          <a:custGeom>
            <a:avLst/>
            <a:gdLst/>
            <a:ahLst/>
            <a:cxnLst/>
            <a:rect r="r" b="b" t="t" l="l"/>
            <a:pathLst>
              <a:path h="1831940" w="8466949">
                <a:moveTo>
                  <a:pt x="0" y="0"/>
                </a:moveTo>
                <a:lnTo>
                  <a:pt x="8466949" y="0"/>
                </a:lnTo>
                <a:lnTo>
                  <a:pt x="8466949" y="1831940"/>
                </a:lnTo>
                <a:lnTo>
                  <a:pt x="0" y="18319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2276516" y="3607383"/>
            <a:ext cx="8116788" cy="1226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8"/>
              </a:lnSpc>
            </a:pPr>
            <a:r>
              <a:rPr lang="en-US" b="true" sz="5515" spc="-187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ADVAN</a:t>
            </a:r>
            <a:r>
              <a:rPr lang="en-US" b="true" sz="5515" spc="-187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TAGES AND POSSIBLE LIMITATIONS: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71806" y="2386090"/>
            <a:ext cx="1166694" cy="1132754"/>
          </a:xfrm>
          <a:custGeom>
            <a:avLst/>
            <a:gdLst/>
            <a:ahLst/>
            <a:cxnLst/>
            <a:rect r="r" b="b" t="t" l="l"/>
            <a:pathLst>
              <a:path h="1132754" w="1166694">
                <a:moveTo>
                  <a:pt x="0" y="0"/>
                </a:moveTo>
                <a:lnTo>
                  <a:pt x="1166694" y="0"/>
                </a:lnTo>
                <a:lnTo>
                  <a:pt x="1166694" y="1132754"/>
                </a:lnTo>
                <a:lnTo>
                  <a:pt x="0" y="1132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862255" y="5494058"/>
            <a:ext cx="5901813" cy="133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5"/>
              </a:lnSpc>
            </a:pPr>
            <a:r>
              <a:rPr lang="en-US" sz="21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Advantages</a:t>
            </a:r>
            <a:r>
              <a:rPr lang="en-US" sz="21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:</a:t>
            </a:r>
          </a:p>
          <a:p>
            <a:pPr algn="just">
              <a:lnSpc>
                <a:spcPts val="2735"/>
              </a:lnSpc>
            </a:pPr>
          </a:p>
          <a:p>
            <a:pPr algn="just" marL="450922" indent="-225461" lvl="1">
              <a:lnSpc>
                <a:spcPts val="2610"/>
              </a:lnSpc>
              <a:buFont typeface="Arial"/>
              <a:buChar char="•"/>
            </a:pPr>
            <a:r>
              <a:rPr lang="en-US" sz="20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Protects a</a:t>
            </a:r>
            <a:r>
              <a:rPr lang="en-US" sz="20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gainst external attacks.</a:t>
            </a:r>
          </a:p>
          <a:p>
            <a:pPr algn="just" marL="450922" indent="-225461" lvl="1">
              <a:lnSpc>
                <a:spcPts val="2610"/>
              </a:lnSpc>
              <a:buFont typeface="Arial"/>
              <a:buChar char="•"/>
            </a:pPr>
            <a:r>
              <a:rPr lang="en-US" sz="20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Reduces attack surface.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7162832" cy="110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Real-Life Scenario Challenge</a:t>
            </a:r>
          </a:p>
          <a:p>
            <a:pPr algn="l">
              <a:lnSpc>
                <a:spcPts val="4462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3862255" y="7103260"/>
            <a:ext cx="5901813" cy="162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0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Possible Limitations:</a:t>
            </a:r>
          </a:p>
          <a:p>
            <a:pPr algn="l">
              <a:lnSpc>
                <a:spcPts val="2610"/>
              </a:lnSpc>
            </a:pPr>
          </a:p>
          <a:p>
            <a:pPr algn="l" marL="450922" indent="-225461" lvl="1">
              <a:lnSpc>
                <a:spcPts val="2610"/>
              </a:lnSpc>
              <a:buFont typeface="Arial"/>
              <a:buChar char="•"/>
            </a:pPr>
            <a:r>
              <a:rPr lang="en-US" sz="20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Nee</a:t>
            </a:r>
            <a:r>
              <a:rPr lang="en-US" sz="20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ds continuous updates.</a:t>
            </a:r>
          </a:p>
          <a:p>
            <a:pPr algn="l" marL="450922" indent="-225461" lvl="1">
              <a:lnSpc>
                <a:spcPts val="2610"/>
              </a:lnSpc>
              <a:buFont typeface="Arial"/>
              <a:buChar char="•"/>
            </a:pPr>
            <a:r>
              <a:rPr lang="en-US" sz="20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Require maintenance to stay effective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63866" y="3444849"/>
            <a:ext cx="7315200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firewall should be c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onfigured to only allow necessary ports and deny all the rest by default.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Example: If a company has a web server we must allow secure web traffic using the HTTPS protocol and block HTTP.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01436" y="1558682"/>
            <a:ext cx="13131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Terms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862255" y="1558682"/>
            <a:ext cx="2138207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Solution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48136" y="1558682"/>
            <a:ext cx="6779553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Advantages and limitations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36559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5852310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486400" y="5282702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4"/>
                </a:lnTo>
                <a:lnTo>
                  <a:pt x="0" y="1582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5669013" y="5830712"/>
            <a:ext cx="6949975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FINISH      :)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7354442" y="919025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976640" y="4506763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84087" y="644177"/>
            <a:ext cx="7004368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Real-Life Scenario Challenge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0090318" y="4753166"/>
            <a:ext cx="3452391" cy="3452391"/>
          </a:xfrm>
          <a:custGeom>
            <a:avLst/>
            <a:gdLst/>
            <a:ahLst/>
            <a:cxnLst/>
            <a:rect r="r" b="b" t="t" l="l"/>
            <a:pathLst>
              <a:path h="3452391" w="3452391">
                <a:moveTo>
                  <a:pt x="0" y="0"/>
                </a:moveTo>
                <a:lnTo>
                  <a:pt x="3452391" y="0"/>
                </a:lnTo>
                <a:lnTo>
                  <a:pt x="3452391" y="3452391"/>
                </a:lnTo>
                <a:lnTo>
                  <a:pt x="0" y="345239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101436" y="1558682"/>
            <a:ext cx="13131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Terms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62255" y="1558682"/>
            <a:ext cx="2138207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Solution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448136" y="1558682"/>
            <a:ext cx="6779553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Advantages and limitations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6559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DAG3QVTT338</dc:identifier>
  <dcterms:modified xsi:type="dcterms:W3CDTF">2011-08-01T06:04:30Z</dcterms:modified>
  <cp:revision>1</cp:revision>
  <dc:title>Grey Blue Pixel Tech Computer Presentation</dc:title>
</cp:coreProperties>
</file>
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ibernate" charset="1" panose="02000503000000000000"/>
      <p:regular r:id="rId16"/>
    </p:embeddedFont>
    <p:embeddedFont>
      <p:font typeface="Boulder" charset="1" panose="00000000000000000000"/>
      <p:regular r:id="rId17"/>
    </p:embeddedFont>
    <p:embeddedFont>
      <p:font typeface="Quicksand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7252" y="-67443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437733">
            <a:off x="13878687" y="-670845"/>
            <a:ext cx="5170163" cy="5160763"/>
          </a:xfrm>
          <a:custGeom>
            <a:avLst/>
            <a:gdLst/>
            <a:ahLst/>
            <a:cxnLst/>
            <a:rect r="r" b="b" t="t" l="l"/>
            <a:pathLst>
              <a:path h="5160763" w="5170163">
                <a:moveTo>
                  <a:pt x="0" y="0"/>
                </a:moveTo>
                <a:lnTo>
                  <a:pt x="5170163" y="0"/>
                </a:lnTo>
                <a:lnTo>
                  <a:pt x="5170163" y="5160763"/>
                </a:lnTo>
                <a:lnTo>
                  <a:pt x="0" y="5160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86600" y="81525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50713" y="1516570"/>
            <a:ext cx="6380060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FF5DF"/>
                </a:solidFill>
                <a:latin typeface="Hibernate"/>
                <a:ea typeface="Hibernate"/>
                <a:cs typeface="Hibernate"/>
                <a:sym typeface="Hibernate"/>
              </a:rPr>
              <a:t>Create 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60193" y="4185679"/>
            <a:ext cx="8167614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app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66395" y="7521080"/>
            <a:ext cx="7355211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sz="6000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Writing. Storyboard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7537" y="3670672"/>
            <a:ext cx="1642353" cy="1642353"/>
            <a:chOff x="0" y="0"/>
            <a:chExt cx="2189804" cy="218980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93661" y="123825"/>
              <a:ext cx="802481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75842" y="3670672"/>
            <a:ext cx="1642353" cy="1642353"/>
            <a:chOff x="0" y="0"/>
            <a:chExt cx="2189804" cy="218980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56839" y="123825"/>
              <a:ext cx="1076127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7537" y="6495392"/>
            <a:ext cx="1642353" cy="1642353"/>
            <a:chOff x="0" y="0"/>
            <a:chExt cx="2189804" cy="21898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58525" y="123825"/>
              <a:ext cx="1072753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79916" y="6495392"/>
            <a:ext cx="1642353" cy="1642353"/>
            <a:chOff x="0" y="0"/>
            <a:chExt cx="2189804" cy="218980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1971" y="123825"/>
              <a:ext cx="1185862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987377" y="1333873"/>
            <a:ext cx="8313247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9"/>
              </a:lnSpc>
            </a:pPr>
            <a:r>
              <a:rPr lang="en-US" sz="9999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contents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18497" y="4074972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TITLE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84244" y="4074972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INTRODUCTION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18497" y="6899691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STORYBOARD DESIGN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84244" y="6899691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9807" y="0"/>
            <a:ext cx="7525406" cy="6594137"/>
          </a:xfrm>
          <a:custGeom>
            <a:avLst/>
            <a:gdLst/>
            <a:ahLst/>
            <a:cxnLst/>
            <a:rect r="r" b="b" t="t" l="l"/>
            <a:pathLst>
              <a:path h="6594137" w="7525406">
                <a:moveTo>
                  <a:pt x="0" y="0"/>
                </a:moveTo>
                <a:lnTo>
                  <a:pt x="7525406" y="0"/>
                </a:lnTo>
                <a:lnTo>
                  <a:pt x="7525406" y="6594137"/>
                </a:lnTo>
                <a:lnTo>
                  <a:pt x="0" y="6594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96767" y="3811256"/>
            <a:ext cx="10494466" cy="4849853"/>
            <a:chOff x="0" y="0"/>
            <a:chExt cx="2763975" cy="1277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3975" cy="1277327"/>
            </a:xfrm>
            <a:custGeom>
              <a:avLst/>
              <a:gdLst/>
              <a:ahLst/>
              <a:cxnLst/>
              <a:rect r="r" b="b" t="t" l="l"/>
              <a:pathLst>
                <a:path h="1277327" w="2763975">
                  <a:moveTo>
                    <a:pt x="37623" y="0"/>
                  </a:moveTo>
                  <a:lnTo>
                    <a:pt x="2726351" y="0"/>
                  </a:lnTo>
                  <a:cubicBezTo>
                    <a:pt x="2747130" y="0"/>
                    <a:pt x="2763975" y="16845"/>
                    <a:pt x="2763975" y="37623"/>
                  </a:cubicBezTo>
                  <a:lnTo>
                    <a:pt x="2763975" y="1239704"/>
                  </a:lnTo>
                  <a:cubicBezTo>
                    <a:pt x="2763975" y="1260483"/>
                    <a:pt x="2747130" y="1277327"/>
                    <a:pt x="2726351" y="1277327"/>
                  </a:cubicBezTo>
                  <a:lnTo>
                    <a:pt x="37623" y="1277327"/>
                  </a:lnTo>
                  <a:cubicBezTo>
                    <a:pt x="16845" y="1277327"/>
                    <a:pt x="0" y="1260483"/>
                    <a:pt x="0" y="1239704"/>
                  </a:cubicBezTo>
                  <a:lnTo>
                    <a:pt x="0" y="37623"/>
                  </a:lnTo>
                  <a:cubicBezTo>
                    <a:pt x="0" y="16845"/>
                    <a:pt x="16845" y="0"/>
                    <a:pt x="3762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3975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108699" y="1753856"/>
            <a:ext cx="3576135" cy="4114800"/>
          </a:xfrm>
          <a:custGeom>
            <a:avLst/>
            <a:gdLst/>
            <a:ahLst/>
            <a:cxnLst/>
            <a:rect r="r" b="b" t="t" l="l"/>
            <a:pathLst>
              <a:path h="4114800" w="3576135">
                <a:moveTo>
                  <a:pt x="0" y="0"/>
                </a:moveTo>
                <a:lnTo>
                  <a:pt x="3576135" y="0"/>
                </a:lnTo>
                <a:lnTo>
                  <a:pt x="35761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48029" y="1123950"/>
            <a:ext cx="8591942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TITLE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22438" y="4542637"/>
            <a:ext cx="8843124" cy="337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u="sng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MindWave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Multimedia App to Improve Focus and Well-being</a:t>
            </a:r>
          </a:p>
          <a:p>
            <a:pPr algn="ctr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63679">
            <a:off x="1037199" y="136828"/>
            <a:ext cx="4188917" cy="4219605"/>
          </a:xfrm>
          <a:custGeom>
            <a:avLst/>
            <a:gdLst/>
            <a:ahLst/>
            <a:cxnLst/>
            <a:rect r="r" b="b" t="t" l="l"/>
            <a:pathLst>
              <a:path h="4219605" w="4188917">
                <a:moveTo>
                  <a:pt x="0" y="0"/>
                </a:moveTo>
                <a:lnTo>
                  <a:pt x="4188916" y="0"/>
                </a:lnTo>
                <a:lnTo>
                  <a:pt x="4188916" y="4219605"/>
                </a:lnTo>
                <a:lnTo>
                  <a:pt x="0" y="4219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67936" y="2634213"/>
            <a:ext cx="11752129" cy="6026895"/>
            <a:chOff x="0" y="0"/>
            <a:chExt cx="3095211" cy="1587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95211" cy="1587330"/>
            </a:xfrm>
            <a:custGeom>
              <a:avLst/>
              <a:gdLst/>
              <a:ahLst/>
              <a:cxnLst/>
              <a:rect r="r" b="b" t="t" l="l"/>
              <a:pathLst>
                <a:path h="1587330" w="3095211">
                  <a:moveTo>
                    <a:pt x="33597" y="0"/>
                  </a:moveTo>
                  <a:lnTo>
                    <a:pt x="3061614" y="0"/>
                  </a:lnTo>
                  <a:cubicBezTo>
                    <a:pt x="3070524" y="0"/>
                    <a:pt x="3079070" y="3540"/>
                    <a:pt x="3085371" y="9840"/>
                  </a:cubicBezTo>
                  <a:cubicBezTo>
                    <a:pt x="3091671" y="16141"/>
                    <a:pt x="3095211" y="24687"/>
                    <a:pt x="3095211" y="33597"/>
                  </a:cubicBezTo>
                  <a:lnTo>
                    <a:pt x="3095211" y="1553733"/>
                  </a:lnTo>
                  <a:cubicBezTo>
                    <a:pt x="3095211" y="1572289"/>
                    <a:pt x="3080169" y="1587330"/>
                    <a:pt x="3061614" y="1587330"/>
                  </a:cubicBezTo>
                  <a:lnTo>
                    <a:pt x="33597" y="1587330"/>
                  </a:lnTo>
                  <a:cubicBezTo>
                    <a:pt x="24687" y="1587330"/>
                    <a:pt x="16141" y="1583791"/>
                    <a:pt x="9840" y="1577490"/>
                  </a:cubicBezTo>
                  <a:cubicBezTo>
                    <a:pt x="3540" y="1571189"/>
                    <a:pt x="0" y="1562644"/>
                    <a:pt x="0" y="1553733"/>
                  </a:cubicBezTo>
                  <a:lnTo>
                    <a:pt x="0" y="33597"/>
                  </a:lnTo>
                  <a:cubicBezTo>
                    <a:pt x="0" y="24687"/>
                    <a:pt x="3540" y="16141"/>
                    <a:pt x="9840" y="9840"/>
                  </a:cubicBezTo>
                  <a:cubicBezTo>
                    <a:pt x="16141" y="3540"/>
                    <a:pt x="24687" y="0"/>
                    <a:pt x="33597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095211" cy="1625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48029" y="1123950"/>
            <a:ext cx="8591942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62099" y="2776903"/>
            <a:ext cx="10963801" cy="568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5"/>
              </a:lnSpc>
            </a:pPr>
            <a:r>
              <a:rPr lang="en-US" sz="2975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MindWave is a multimedia application designed to help users improve their concentration and reduce stress. The app combines relaxing sounds, short videos, and simple interactive activities to create a calm and positive experience.</a:t>
            </a:r>
          </a:p>
          <a:p>
            <a:pPr algn="just">
              <a:lnSpc>
                <a:spcPts val="4165"/>
              </a:lnSpc>
            </a:pPr>
            <a:r>
              <a:rPr lang="en-US" sz="2975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just">
              <a:lnSpc>
                <a:spcPts val="4165"/>
              </a:lnSpc>
            </a:pPr>
            <a:r>
              <a:rPr lang="en-US" sz="2975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Its main purpose is to support mental well-being in an easy and accessible way. </a:t>
            </a:r>
          </a:p>
          <a:p>
            <a:pPr algn="just">
              <a:lnSpc>
                <a:spcPts val="4165"/>
              </a:lnSpc>
            </a:pPr>
          </a:p>
          <a:p>
            <a:pPr algn="just">
              <a:lnSpc>
                <a:spcPts val="4165"/>
              </a:lnSpc>
            </a:pPr>
            <a:r>
              <a:rPr lang="en-US" sz="2975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MindWave is mainly aimed at students and people who spend long hours studying or working in front of a screen.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4859" y="3673490"/>
            <a:ext cx="10494466" cy="4849853"/>
            <a:chOff x="0" y="0"/>
            <a:chExt cx="2763975" cy="12773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3975" cy="1277327"/>
            </a:xfrm>
            <a:custGeom>
              <a:avLst/>
              <a:gdLst/>
              <a:ahLst/>
              <a:cxnLst/>
              <a:rect r="r" b="b" t="t" l="l"/>
              <a:pathLst>
                <a:path h="1277327" w="2763975">
                  <a:moveTo>
                    <a:pt x="37623" y="0"/>
                  </a:moveTo>
                  <a:lnTo>
                    <a:pt x="2726351" y="0"/>
                  </a:lnTo>
                  <a:cubicBezTo>
                    <a:pt x="2747130" y="0"/>
                    <a:pt x="2763975" y="16845"/>
                    <a:pt x="2763975" y="37623"/>
                  </a:cubicBezTo>
                  <a:lnTo>
                    <a:pt x="2763975" y="1239704"/>
                  </a:lnTo>
                  <a:cubicBezTo>
                    <a:pt x="2763975" y="1260483"/>
                    <a:pt x="2747130" y="1277327"/>
                    <a:pt x="2726351" y="1277327"/>
                  </a:cubicBezTo>
                  <a:lnTo>
                    <a:pt x="37623" y="1277327"/>
                  </a:lnTo>
                  <a:cubicBezTo>
                    <a:pt x="16845" y="1277327"/>
                    <a:pt x="0" y="1260483"/>
                    <a:pt x="0" y="1239704"/>
                  </a:cubicBezTo>
                  <a:lnTo>
                    <a:pt x="0" y="37623"/>
                  </a:lnTo>
                  <a:cubicBezTo>
                    <a:pt x="0" y="16845"/>
                    <a:pt x="16845" y="0"/>
                    <a:pt x="3762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63975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361661" y="1428662"/>
            <a:ext cx="3897639" cy="7429676"/>
            <a:chOff x="0" y="0"/>
            <a:chExt cx="8624570" cy="16440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10210" y="269240"/>
              <a:ext cx="7757160" cy="14293849"/>
            </a:xfrm>
            <a:custGeom>
              <a:avLst/>
              <a:gdLst/>
              <a:ahLst/>
              <a:cxnLst/>
              <a:rect r="r" b="b" t="t" l="l"/>
              <a:pathLst>
                <a:path h="14293849" w="7757160">
                  <a:moveTo>
                    <a:pt x="7757160" y="791210"/>
                  </a:moveTo>
                  <a:lnTo>
                    <a:pt x="7757160" y="14293849"/>
                  </a:lnTo>
                  <a:lnTo>
                    <a:pt x="0" y="14293849"/>
                  </a:ln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5950" y="0"/>
                  </a:lnTo>
                  <a:cubicBezTo>
                    <a:pt x="7402830" y="0"/>
                    <a:pt x="7757160" y="354330"/>
                    <a:pt x="7757160" y="791210"/>
                  </a:cubicBezTo>
                  <a:close/>
                </a:path>
              </a:pathLst>
            </a:custGeom>
            <a:blipFill>
              <a:blip r:embed="rId3"/>
              <a:stretch>
                <a:fillRect l="-42133" t="0" r="-4213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9" id="9"/>
          <p:cNvSpPr txBox="true"/>
          <p:nvPr/>
        </p:nvSpPr>
        <p:spPr>
          <a:xfrm rot="0">
            <a:off x="4848029" y="1123950"/>
            <a:ext cx="8591942" cy="220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storyboard design (I)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530" y="3976247"/>
            <a:ext cx="8843124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1: Home Screen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description: 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user sees the MindWave logo and a “Start” button. The background shows soft colors and gentle animations to create a relaxing atmosphere.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Objective: The user can start the application and access the main menu.</a:t>
            </a:r>
          </a:p>
          <a:p>
            <a:pPr algn="ctr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4859" y="3673490"/>
            <a:ext cx="10494466" cy="4849853"/>
            <a:chOff x="0" y="0"/>
            <a:chExt cx="2763975" cy="12773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3975" cy="1277327"/>
            </a:xfrm>
            <a:custGeom>
              <a:avLst/>
              <a:gdLst/>
              <a:ahLst/>
              <a:cxnLst/>
              <a:rect r="r" b="b" t="t" l="l"/>
              <a:pathLst>
                <a:path h="1277327" w="2763975">
                  <a:moveTo>
                    <a:pt x="37623" y="0"/>
                  </a:moveTo>
                  <a:lnTo>
                    <a:pt x="2726351" y="0"/>
                  </a:lnTo>
                  <a:cubicBezTo>
                    <a:pt x="2747130" y="0"/>
                    <a:pt x="2763975" y="16845"/>
                    <a:pt x="2763975" y="37623"/>
                  </a:cubicBezTo>
                  <a:lnTo>
                    <a:pt x="2763975" y="1239704"/>
                  </a:lnTo>
                  <a:cubicBezTo>
                    <a:pt x="2763975" y="1260483"/>
                    <a:pt x="2747130" y="1277327"/>
                    <a:pt x="2726351" y="1277327"/>
                  </a:cubicBezTo>
                  <a:lnTo>
                    <a:pt x="37623" y="1277327"/>
                  </a:lnTo>
                  <a:cubicBezTo>
                    <a:pt x="16845" y="1277327"/>
                    <a:pt x="0" y="1260483"/>
                    <a:pt x="0" y="1239704"/>
                  </a:cubicBezTo>
                  <a:lnTo>
                    <a:pt x="0" y="37623"/>
                  </a:lnTo>
                  <a:cubicBezTo>
                    <a:pt x="0" y="16845"/>
                    <a:pt x="16845" y="0"/>
                    <a:pt x="3762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63975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361661" y="1428662"/>
            <a:ext cx="3897639" cy="7429676"/>
            <a:chOff x="0" y="0"/>
            <a:chExt cx="8624570" cy="16440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10210" y="269240"/>
              <a:ext cx="7757160" cy="14293849"/>
            </a:xfrm>
            <a:custGeom>
              <a:avLst/>
              <a:gdLst/>
              <a:ahLst/>
              <a:cxnLst/>
              <a:rect r="r" b="b" t="t" l="l"/>
              <a:pathLst>
                <a:path h="14293849" w="7757160">
                  <a:moveTo>
                    <a:pt x="7757160" y="791210"/>
                  </a:moveTo>
                  <a:lnTo>
                    <a:pt x="7757160" y="14293849"/>
                  </a:lnTo>
                  <a:lnTo>
                    <a:pt x="0" y="14293849"/>
                  </a:ln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5950" y="0"/>
                  </a:lnTo>
                  <a:cubicBezTo>
                    <a:pt x="7402830" y="0"/>
                    <a:pt x="7757160" y="354330"/>
                    <a:pt x="7757160" y="791210"/>
                  </a:cubicBezTo>
                  <a:close/>
                </a:path>
              </a:pathLst>
            </a:custGeom>
            <a:blipFill>
              <a:blip r:embed="rId3"/>
              <a:stretch>
                <a:fillRect l="-42133" t="0" r="-4213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9" id="9"/>
          <p:cNvSpPr txBox="true"/>
          <p:nvPr/>
        </p:nvSpPr>
        <p:spPr>
          <a:xfrm rot="0">
            <a:off x="4848029" y="1123950"/>
            <a:ext cx="8591942" cy="220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storyboard design (I)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530" y="3976247"/>
            <a:ext cx="8843124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1: Home Screen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description: 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user sees the MindWave logo and a “Start” button. The background shows soft colors and gentle animations to create a relaxing atmosphere.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Objective: The user can start the application and access the main menu.</a:t>
            </a:r>
          </a:p>
          <a:p>
            <a:pPr algn="ctr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8029" y="1123950"/>
            <a:ext cx="8591942" cy="220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storyboard design (II)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4859" y="3673490"/>
            <a:ext cx="10494466" cy="4849853"/>
            <a:chOff x="0" y="0"/>
            <a:chExt cx="2763975" cy="1277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3975" cy="1277327"/>
            </a:xfrm>
            <a:custGeom>
              <a:avLst/>
              <a:gdLst/>
              <a:ahLst/>
              <a:cxnLst/>
              <a:rect r="r" b="b" t="t" l="l"/>
              <a:pathLst>
                <a:path h="1277327" w="2763975">
                  <a:moveTo>
                    <a:pt x="37623" y="0"/>
                  </a:moveTo>
                  <a:lnTo>
                    <a:pt x="2726351" y="0"/>
                  </a:lnTo>
                  <a:cubicBezTo>
                    <a:pt x="2747130" y="0"/>
                    <a:pt x="2763975" y="16845"/>
                    <a:pt x="2763975" y="37623"/>
                  </a:cubicBezTo>
                  <a:lnTo>
                    <a:pt x="2763975" y="1239704"/>
                  </a:lnTo>
                  <a:cubicBezTo>
                    <a:pt x="2763975" y="1260483"/>
                    <a:pt x="2747130" y="1277327"/>
                    <a:pt x="2726351" y="1277327"/>
                  </a:cubicBezTo>
                  <a:lnTo>
                    <a:pt x="37623" y="1277327"/>
                  </a:lnTo>
                  <a:cubicBezTo>
                    <a:pt x="16845" y="1277327"/>
                    <a:pt x="0" y="1260483"/>
                    <a:pt x="0" y="1239704"/>
                  </a:cubicBezTo>
                  <a:lnTo>
                    <a:pt x="0" y="37623"/>
                  </a:lnTo>
                  <a:cubicBezTo>
                    <a:pt x="0" y="16845"/>
                    <a:pt x="16845" y="0"/>
                    <a:pt x="3762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3975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361661" y="1428662"/>
            <a:ext cx="3897639" cy="7429676"/>
            <a:chOff x="0" y="0"/>
            <a:chExt cx="8624570" cy="16440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10210" y="269240"/>
              <a:ext cx="7757160" cy="14293849"/>
            </a:xfrm>
            <a:custGeom>
              <a:avLst/>
              <a:gdLst/>
              <a:ahLst/>
              <a:cxnLst/>
              <a:rect r="r" b="b" t="t" l="l"/>
              <a:pathLst>
                <a:path h="14293849" w="7757160">
                  <a:moveTo>
                    <a:pt x="7757160" y="791210"/>
                  </a:moveTo>
                  <a:lnTo>
                    <a:pt x="7757160" y="14293849"/>
                  </a:lnTo>
                  <a:lnTo>
                    <a:pt x="0" y="14293849"/>
                  </a:ln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5950" y="0"/>
                  </a:lnTo>
                  <a:cubicBezTo>
                    <a:pt x="7402830" y="0"/>
                    <a:pt x="7757160" y="354330"/>
                    <a:pt x="7757160" y="791210"/>
                  </a:cubicBezTo>
                  <a:close/>
                </a:path>
              </a:pathLst>
            </a:custGeom>
            <a:blipFill>
              <a:blip r:embed="rId3"/>
              <a:stretch>
                <a:fillRect l="-42133" t="0" r="-42133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10" id="10"/>
          <p:cNvSpPr txBox="true"/>
          <p:nvPr/>
        </p:nvSpPr>
        <p:spPr>
          <a:xfrm rot="0">
            <a:off x="1610530" y="3976247"/>
            <a:ext cx="8843124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2: Mood Selection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description: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Several options appear on the screen, such as “Focus”, “Relax”, and “Motivation”, each one with an icon and background music.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Objective: The user chooses their current mood or what they want to improve.</a:t>
            </a:r>
          </a:p>
          <a:p>
            <a:pPr algn="ctr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8029" y="1123950"/>
            <a:ext cx="8591942" cy="220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storyboard design (III)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4491" y="3673301"/>
            <a:ext cx="10494466" cy="4849853"/>
            <a:chOff x="0" y="0"/>
            <a:chExt cx="2763975" cy="1277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3975" cy="1277327"/>
            </a:xfrm>
            <a:custGeom>
              <a:avLst/>
              <a:gdLst/>
              <a:ahLst/>
              <a:cxnLst/>
              <a:rect r="r" b="b" t="t" l="l"/>
              <a:pathLst>
                <a:path h="1277327" w="2763975">
                  <a:moveTo>
                    <a:pt x="37623" y="0"/>
                  </a:moveTo>
                  <a:lnTo>
                    <a:pt x="2726351" y="0"/>
                  </a:lnTo>
                  <a:cubicBezTo>
                    <a:pt x="2747130" y="0"/>
                    <a:pt x="2763975" y="16845"/>
                    <a:pt x="2763975" y="37623"/>
                  </a:cubicBezTo>
                  <a:lnTo>
                    <a:pt x="2763975" y="1239704"/>
                  </a:lnTo>
                  <a:cubicBezTo>
                    <a:pt x="2763975" y="1260483"/>
                    <a:pt x="2747130" y="1277327"/>
                    <a:pt x="2726351" y="1277327"/>
                  </a:cubicBezTo>
                  <a:lnTo>
                    <a:pt x="37623" y="1277327"/>
                  </a:lnTo>
                  <a:cubicBezTo>
                    <a:pt x="16845" y="1277327"/>
                    <a:pt x="0" y="1260483"/>
                    <a:pt x="0" y="1239704"/>
                  </a:cubicBezTo>
                  <a:lnTo>
                    <a:pt x="0" y="37623"/>
                  </a:lnTo>
                  <a:cubicBezTo>
                    <a:pt x="0" y="16845"/>
                    <a:pt x="16845" y="0"/>
                    <a:pt x="3762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3975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361661" y="1428662"/>
            <a:ext cx="3897639" cy="7429676"/>
            <a:chOff x="0" y="0"/>
            <a:chExt cx="8624570" cy="16440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10210" y="269240"/>
              <a:ext cx="7757160" cy="14293849"/>
            </a:xfrm>
            <a:custGeom>
              <a:avLst/>
              <a:gdLst/>
              <a:ahLst/>
              <a:cxnLst/>
              <a:rect r="r" b="b" t="t" l="l"/>
              <a:pathLst>
                <a:path h="14293849" w="7757160">
                  <a:moveTo>
                    <a:pt x="7757160" y="791210"/>
                  </a:moveTo>
                  <a:lnTo>
                    <a:pt x="7757160" y="14293849"/>
                  </a:lnTo>
                  <a:lnTo>
                    <a:pt x="0" y="14293849"/>
                  </a:ln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5950" y="0"/>
                  </a:lnTo>
                  <a:cubicBezTo>
                    <a:pt x="7402830" y="0"/>
                    <a:pt x="7757160" y="354330"/>
                    <a:pt x="7757160" y="791210"/>
                  </a:cubicBezTo>
                  <a:close/>
                </a:path>
              </a:pathLst>
            </a:custGeom>
            <a:blipFill>
              <a:blip r:embed="rId3"/>
              <a:stretch>
                <a:fillRect l="-42133" t="0" r="-42133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10" id="10"/>
          <p:cNvSpPr txBox="true"/>
          <p:nvPr/>
        </p:nvSpPr>
        <p:spPr>
          <a:xfrm rot="0">
            <a:off x="1610530" y="3917242"/>
            <a:ext cx="8842389" cy="460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3: Multimedia Content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description: 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media player shows short videos, calming sounds, and positive messages. Simple controls allow the user to play, pause, or change the content.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Objective: The user can enjoy the multimedia content and adapt it to their needs.</a:t>
            </a:r>
          </a:p>
          <a:p>
            <a:pPr algn="just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8029" y="1123950"/>
            <a:ext cx="8591942" cy="220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storyboard design (IV)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4491" y="3673301"/>
            <a:ext cx="10494466" cy="4849853"/>
            <a:chOff x="0" y="0"/>
            <a:chExt cx="2763975" cy="1277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3975" cy="1277327"/>
            </a:xfrm>
            <a:custGeom>
              <a:avLst/>
              <a:gdLst/>
              <a:ahLst/>
              <a:cxnLst/>
              <a:rect r="r" b="b" t="t" l="l"/>
              <a:pathLst>
                <a:path h="1277327" w="2763975">
                  <a:moveTo>
                    <a:pt x="37623" y="0"/>
                  </a:moveTo>
                  <a:lnTo>
                    <a:pt x="2726351" y="0"/>
                  </a:lnTo>
                  <a:cubicBezTo>
                    <a:pt x="2747130" y="0"/>
                    <a:pt x="2763975" y="16845"/>
                    <a:pt x="2763975" y="37623"/>
                  </a:cubicBezTo>
                  <a:lnTo>
                    <a:pt x="2763975" y="1239704"/>
                  </a:lnTo>
                  <a:cubicBezTo>
                    <a:pt x="2763975" y="1260483"/>
                    <a:pt x="2747130" y="1277327"/>
                    <a:pt x="2726351" y="1277327"/>
                  </a:cubicBezTo>
                  <a:lnTo>
                    <a:pt x="37623" y="1277327"/>
                  </a:lnTo>
                  <a:cubicBezTo>
                    <a:pt x="16845" y="1277327"/>
                    <a:pt x="0" y="1260483"/>
                    <a:pt x="0" y="1239704"/>
                  </a:cubicBezTo>
                  <a:lnTo>
                    <a:pt x="0" y="37623"/>
                  </a:lnTo>
                  <a:cubicBezTo>
                    <a:pt x="0" y="16845"/>
                    <a:pt x="16845" y="0"/>
                    <a:pt x="3762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3975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361661" y="1428662"/>
            <a:ext cx="3897639" cy="7429676"/>
            <a:chOff x="0" y="0"/>
            <a:chExt cx="8624570" cy="16440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10210" y="269240"/>
              <a:ext cx="7757160" cy="14293849"/>
            </a:xfrm>
            <a:custGeom>
              <a:avLst/>
              <a:gdLst/>
              <a:ahLst/>
              <a:cxnLst/>
              <a:rect r="r" b="b" t="t" l="l"/>
              <a:pathLst>
                <a:path h="14293849" w="7757160">
                  <a:moveTo>
                    <a:pt x="7757160" y="791210"/>
                  </a:moveTo>
                  <a:lnTo>
                    <a:pt x="7757160" y="14293849"/>
                  </a:lnTo>
                  <a:lnTo>
                    <a:pt x="0" y="14293849"/>
                  </a:ln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5950" y="0"/>
                  </a:lnTo>
                  <a:cubicBezTo>
                    <a:pt x="7402830" y="0"/>
                    <a:pt x="7757160" y="354330"/>
                    <a:pt x="7757160" y="791210"/>
                  </a:cubicBezTo>
                  <a:close/>
                </a:path>
              </a:pathLst>
            </a:custGeom>
            <a:blipFill>
              <a:blip r:embed="rId3"/>
              <a:stretch>
                <a:fillRect l="-42133" t="0" r="-42133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10" id="10"/>
          <p:cNvSpPr txBox="true"/>
          <p:nvPr/>
        </p:nvSpPr>
        <p:spPr>
          <a:xfrm rot="0">
            <a:off x="1610530" y="3917242"/>
            <a:ext cx="8842389" cy="460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4: Interactive Activity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Screen description: 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app presents easy activities like guided breathing exercises or small concentration challenges.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Objective: The user actively participates to relax and improve their focus.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44418"/>
            <a:ext cx="18951976" cy="12631418"/>
          </a:xfrm>
          <a:custGeom>
            <a:avLst/>
            <a:gdLst/>
            <a:ahLst/>
            <a:cxnLst/>
            <a:rect r="r" b="b" t="t" l="l"/>
            <a:pathLst>
              <a:path h="12631418" w="18951976">
                <a:moveTo>
                  <a:pt x="0" y="0"/>
                </a:moveTo>
                <a:lnTo>
                  <a:pt x="18951976" y="0"/>
                </a:lnTo>
                <a:lnTo>
                  <a:pt x="18951976" y="12631418"/>
                </a:lnTo>
                <a:lnTo>
                  <a:pt x="0" y="12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5" r="0" b="-424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64543">
            <a:off x="12429161" y="1093195"/>
            <a:ext cx="4393072" cy="3809991"/>
          </a:xfrm>
          <a:custGeom>
            <a:avLst/>
            <a:gdLst/>
            <a:ahLst/>
            <a:cxnLst/>
            <a:rect r="r" b="b" t="t" l="l"/>
            <a:pathLst>
              <a:path h="3809991" w="4393072">
                <a:moveTo>
                  <a:pt x="0" y="0"/>
                </a:moveTo>
                <a:lnTo>
                  <a:pt x="4393072" y="0"/>
                </a:lnTo>
                <a:lnTo>
                  <a:pt x="4393072" y="3809992"/>
                </a:lnTo>
                <a:lnTo>
                  <a:pt x="0" y="3809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63722" y="3475574"/>
            <a:ext cx="10760557" cy="5546398"/>
            <a:chOff x="0" y="0"/>
            <a:chExt cx="2834056" cy="14607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4056" cy="1460780"/>
            </a:xfrm>
            <a:custGeom>
              <a:avLst/>
              <a:gdLst/>
              <a:ahLst/>
              <a:cxnLst/>
              <a:rect r="r" b="b" t="t" l="l"/>
              <a:pathLst>
                <a:path h="1460780" w="2834056">
                  <a:moveTo>
                    <a:pt x="36693" y="0"/>
                  </a:moveTo>
                  <a:lnTo>
                    <a:pt x="2797363" y="0"/>
                  </a:lnTo>
                  <a:cubicBezTo>
                    <a:pt x="2807095" y="0"/>
                    <a:pt x="2816428" y="3866"/>
                    <a:pt x="2823309" y="10747"/>
                  </a:cubicBezTo>
                  <a:cubicBezTo>
                    <a:pt x="2830190" y="17628"/>
                    <a:pt x="2834056" y="26961"/>
                    <a:pt x="2834056" y="36693"/>
                  </a:cubicBezTo>
                  <a:lnTo>
                    <a:pt x="2834056" y="1424087"/>
                  </a:lnTo>
                  <a:cubicBezTo>
                    <a:pt x="2834056" y="1433818"/>
                    <a:pt x="2830190" y="1443151"/>
                    <a:pt x="2823309" y="1450033"/>
                  </a:cubicBezTo>
                  <a:cubicBezTo>
                    <a:pt x="2816428" y="1456914"/>
                    <a:pt x="2807095" y="1460780"/>
                    <a:pt x="2797363" y="1460780"/>
                  </a:cubicBezTo>
                  <a:lnTo>
                    <a:pt x="36693" y="1460780"/>
                  </a:lnTo>
                  <a:cubicBezTo>
                    <a:pt x="26961" y="1460780"/>
                    <a:pt x="17628" y="1456914"/>
                    <a:pt x="10747" y="1450033"/>
                  </a:cubicBezTo>
                  <a:cubicBezTo>
                    <a:pt x="3866" y="1443151"/>
                    <a:pt x="0" y="1433818"/>
                    <a:pt x="0" y="1424087"/>
                  </a:cubicBezTo>
                  <a:lnTo>
                    <a:pt x="0" y="36693"/>
                  </a:lnTo>
                  <a:cubicBezTo>
                    <a:pt x="0" y="26961"/>
                    <a:pt x="3866" y="17628"/>
                    <a:pt x="10747" y="10747"/>
                  </a:cubicBezTo>
                  <a:cubicBezTo>
                    <a:pt x="17628" y="3866"/>
                    <a:pt x="26961" y="0"/>
                    <a:pt x="3669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4056" cy="149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48029" y="1123950"/>
            <a:ext cx="8591942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84824" y="4492675"/>
            <a:ext cx="10518351" cy="346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6"/>
              </a:lnSpc>
            </a:pPr>
            <a:r>
              <a:rPr lang="en-US" sz="2854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 conclusion, MindWave is a simple and user-friendly application that combines multimedia and interaction to improve mental well-being. Its main advantages are its intuitive design and its focus on relaxation and concentration. With MindWave, users can take care of their mind while studying or working in a balanced way.</a:t>
            </a:r>
          </a:p>
          <a:p>
            <a:pPr algn="ctr">
              <a:lnSpc>
                <a:spcPts val="399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DAG_f4omb_o</dc:identifier>
  <dcterms:modified xsi:type="dcterms:W3CDTF">2011-08-01T06:04:30Z</dcterms:modified>
  <cp:revision>1</cp:revision>
  <dc:title>app</dc:title>
</cp:coreProperties>
</file>